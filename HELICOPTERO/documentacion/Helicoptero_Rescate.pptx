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718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0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menu_fondo_v2_640x8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0"/>
            <a:ext cx="493776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406640" cy="6858000"/>
          </a:xfrm>
          <a:prstGeom prst="rect">
            <a:avLst/>
          </a:prstGeom>
          <a:solidFill>
            <a:srgbClr val="150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7223760" y="0"/>
            <a:ext cx="320040" cy="6858000"/>
          </a:xfrm>
          <a:prstGeom prst="rect">
            <a:avLst/>
          </a:prstGeom>
          <a:solidFill>
            <a:srgbClr val="150A2B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731520" y="1417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4D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PROYECTO FINAL — PROGRAMACIÓN 3 (LCP208)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874520"/>
            <a:ext cx="6492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800" b="1" dirty="0">
                <a:solidFill>
                  <a:srgbClr val="EC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HELICÓPTERO</a:t>
            </a:r>
            <a:endParaRPr lang="en-US" sz="48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800" b="1" dirty="0">
                <a:solidFill>
                  <a:srgbClr val="EC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RESCATE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61188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C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Juego con interfaz gráfica (GUI) desarrollado en C++ y Qt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31520" y="4343400"/>
            <a:ext cx="6035040" cy="1691640"/>
          </a:xfrm>
          <a:prstGeom prst="roundRect">
            <a:avLst>
              <a:gd name="adj" fmla="val 3243"/>
            </a:avLst>
          </a:prstGeom>
          <a:solidFill>
            <a:srgbClr val="1F1438">
              <a:alpha val="90000"/>
            </a:srgbClr>
          </a:solidFill>
          <a:ln w="12700">
            <a:solidFill>
              <a:srgbClr val="3A2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31520" y="4343400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31520" y="4343400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565392" y="4343400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739128" y="4343400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31520" y="6007608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731520" y="5833872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565392" y="6007608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739128" y="5833872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1005840" y="4544568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C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Catedrático:  </a:t>
            </a:r>
            <a:r>
              <a:rPr lang="en-US" sz="1400" b="1" dirty="0">
                <a:solidFill>
                  <a:srgbClr val="EC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MSc. Idiáquez G.
</a:t>
            </a:r>
            <a:r>
              <a:rPr lang="en-US" sz="1400" dirty="0">
                <a:solidFill>
                  <a:srgbClr val="9C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Integrantes:  </a:t>
            </a:r>
            <a:r>
              <a:rPr lang="en-US" sz="1400" b="1" dirty="0">
                <a:solidFill>
                  <a:srgbClr val="EC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Popoff y Jean Carlos Najar
</a:t>
            </a:r>
            <a:r>
              <a:rPr lang="en-US" sz="1400" dirty="0">
                <a:solidFill>
                  <a:srgbClr val="9C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Fecha:  </a:t>
            </a:r>
            <a:r>
              <a:rPr lang="en-US" sz="1400" b="1" dirty="0">
                <a:solidFill>
                  <a:srgbClr val="EC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de septiembre de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0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rgbClr val="4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9C9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CONTEXTO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61264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EC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Videojuego arcade 2D con interfaz gráfica real, escrito en C++ sobre el framework Qt (QGraphicsView / QGraphicsScene).</a:t>
            </a:r>
            <a:endParaRPr lang="en-US" sz="16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EC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jugador pilotea un helicóptero para esquivar obstáculos y rescatar personas atrapadas en distintos escenarios.</a:t>
            </a:r>
            <a:endParaRPr lang="en-US" sz="16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EC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académico que resuelve: aplicar punteros, memoria dinámica y POO en un proyecto real e interactivo, más allá de ejercicios aislados.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040880" y="1463040"/>
            <a:ext cx="4572000" cy="4480560"/>
          </a:xfrm>
          <a:prstGeom prst="roundRect">
            <a:avLst>
              <a:gd name="adj" fmla="val 1224"/>
            </a:avLst>
          </a:prstGeom>
          <a:solidFill>
            <a:srgbClr val="1F1438">
              <a:alpha val="90000"/>
            </a:srgbClr>
          </a:solidFill>
          <a:ln w="12700">
            <a:solidFill>
              <a:srgbClr val="3A2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040880" y="1463040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040880" y="1463040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411712" y="1463040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585448" y="1463040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040880" y="5916168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040880" y="5742432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411712" y="5916168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1585448" y="5742432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0" descr="/home/claude/assets/helicoptero_frame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06640" y="3291840"/>
            <a:ext cx="3840480" cy="1920240"/>
          </a:xfrm>
          <a:prstGeom prst="rect">
            <a:avLst/>
          </a:prstGeom>
        </p:spPr>
      </p:pic>
      <p:pic>
        <p:nvPicPr>
          <p:cNvPr id="15" name="Image 1" descr="/home/claude/assets/icon_gamepa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869680" y="1920240"/>
            <a:ext cx="914400" cy="9144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406640" y="5394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9C9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 la clase al proyecto real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12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C9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HELICOPTERO DE RESCATE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0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rgbClr val="4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9C9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PROPÓSITO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1F1438">
              <a:alpha val="90000"/>
            </a:srgbClr>
          </a:solidFill>
          <a:ln w="12700">
            <a:solidFill>
              <a:srgbClr val="3A2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411712" y="1417320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585448" y="1417320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2350008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2176272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411712" y="2350008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585448" y="2176272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0" descr="/home/claude/assets/icon_bullsey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7240" y="1600200"/>
            <a:ext cx="594360" cy="59436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554480" y="146304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general:  </a:t>
            </a:r>
            <a:r>
              <a:rPr lang="en-US" sz="1450" dirty="0">
                <a:solidFill>
                  <a:srgbClr val="EC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 simulador arcade de vuelo y rescate en C++ con Qt, aplicando programación orientada a objetos y gestión dinámica de memoria.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48640" y="2743200"/>
            <a:ext cx="3520440" cy="3154680"/>
          </a:xfrm>
          <a:prstGeom prst="roundRect">
            <a:avLst>
              <a:gd name="adj" fmla="val 1739"/>
            </a:avLst>
          </a:prstGeom>
          <a:solidFill>
            <a:srgbClr val="1F1438">
              <a:alpha val="90000"/>
            </a:srgbClr>
          </a:solidFill>
          <a:ln w="12700">
            <a:solidFill>
              <a:srgbClr val="3A2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48640" y="2743200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48640" y="2743200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867912" y="2743200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041648" y="2743200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548640" y="5870448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548640" y="5696712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3867912" y="5870448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041648" y="5696712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777240" y="29260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2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800" dirty="0"/>
          </a:p>
        </p:txBody>
      </p:sp>
      <p:sp>
        <p:nvSpPr>
          <p:cNvPr id="25" name="Text 22"/>
          <p:cNvSpPr txBox="1"/>
          <p:nvPr/>
        </p:nvSpPr>
        <p:spPr>
          <a:xfrm>
            <a:off x="777240" y="36118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C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Físicas y colisiones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777240" y="416052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C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gravedad, empuje e inercia, con detección de colisiones entre helicóptero, obstáculos y balas.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4297680" y="2743200"/>
            <a:ext cx="3520440" cy="3154680"/>
          </a:xfrm>
          <a:prstGeom prst="roundRect">
            <a:avLst>
              <a:gd name="adj" fmla="val 1739"/>
            </a:avLst>
          </a:prstGeom>
          <a:solidFill>
            <a:srgbClr val="1F1438">
              <a:alpha val="90000"/>
            </a:srgbClr>
          </a:solidFill>
          <a:ln w="12700">
            <a:solidFill>
              <a:srgbClr val="3A2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4297680" y="2743200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4297680" y="2743200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7616952" y="2743200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7790688" y="2743200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4297680" y="5870448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4297680" y="5696712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7616952" y="5870448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7790688" y="5696712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 txBox="1"/>
          <p:nvPr/>
        </p:nvSpPr>
        <p:spPr>
          <a:xfrm>
            <a:off x="4526280" y="29260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2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800" dirty="0"/>
          </a:p>
        </p:txBody>
      </p:sp>
      <p:sp>
        <p:nvSpPr>
          <p:cNvPr id="37" name="Text 34"/>
          <p:cNvSpPr txBox="1"/>
          <p:nvPr/>
        </p:nvSpPr>
        <p:spPr>
          <a:xfrm>
            <a:off x="4526280" y="36118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C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Niveles progresivos</a:t>
            </a:r>
            <a:endParaRPr lang="en-US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4526280" y="416052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C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3 niveles de dificultad creciente con persistencia de progreso entre partidas.</a:t>
            </a:r>
            <a:endParaRPr lang="en-US" sz="1250" dirty="0"/>
          </a:p>
        </p:txBody>
      </p:sp>
      <p:sp>
        <p:nvSpPr>
          <p:cNvPr id="39" name="Shape 36"/>
          <p:cNvSpPr/>
          <p:nvPr/>
        </p:nvSpPr>
        <p:spPr>
          <a:xfrm>
            <a:off x="8046720" y="2743200"/>
            <a:ext cx="3520440" cy="3154680"/>
          </a:xfrm>
          <a:prstGeom prst="roundRect">
            <a:avLst>
              <a:gd name="adj" fmla="val 1739"/>
            </a:avLst>
          </a:prstGeom>
          <a:solidFill>
            <a:srgbClr val="1F1438">
              <a:alpha val="90000"/>
            </a:srgbClr>
          </a:solidFill>
          <a:ln w="12700">
            <a:solidFill>
              <a:srgbClr val="3A2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8046720" y="2743200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8046720" y="2743200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11365992" y="2743200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11539728" y="2743200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8046720" y="5870448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8046720" y="5696712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11365992" y="5870448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11539728" y="5696712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 txBox="1"/>
          <p:nvPr/>
        </p:nvSpPr>
        <p:spPr>
          <a:xfrm>
            <a:off x="8275320" y="29260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2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800" dirty="0"/>
          </a:p>
        </p:txBody>
      </p:sp>
      <p:sp>
        <p:nvSpPr>
          <p:cNvPr id="49" name="Text 46"/>
          <p:cNvSpPr txBox="1"/>
          <p:nvPr/>
        </p:nvSpPr>
        <p:spPr>
          <a:xfrm>
            <a:off x="8275320" y="36118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C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 y puntajes</a:t>
            </a:r>
            <a:endParaRPr lang="en-US" sz="1600" dirty="0"/>
          </a:p>
        </p:txBody>
      </p:sp>
      <p:sp>
        <p:nvSpPr>
          <p:cNvPr id="50" name="Text 47"/>
          <p:cNvSpPr txBox="1"/>
          <p:nvPr/>
        </p:nvSpPr>
        <p:spPr>
          <a:xfrm>
            <a:off x="8275320" y="416052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C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manejo de archivos para cuentas de usuario, puntaje acumulado y ranking.</a:t>
            </a:r>
            <a:endParaRPr lang="en-US" sz="1250" dirty="0"/>
          </a:p>
        </p:txBody>
      </p:sp>
      <p:sp>
        <p:nvSpPr>
          <p:cNvPr id="51" name="Text 48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12</a:t>
            </a:r>
            <a:endParaRPr lang="en-US" sz="900" dirty="0"/>
          </a:p>
        </p:txBody>
      </p:sp>
      <p:sp>
        <p:nvSpPr>
          <p:cNvPr id="52" name="Text 49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C9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HELICOPTERO DE RESCATE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0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rgbClr val="4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9C9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FLUJO DE JUEGO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06040" cy="3108960"/>
          </a:xfrm>
          <a:prstGeom prst="roundRect">
            <a:avLst>
              <a:gd name="adj" fmla="val 2105"/>
            </a:avLst>
          </a:prstGeom>
          <a:solidFill>
            <a:srgbClr val="1F1438">
              <a:alpha val="90000"/>
            </a:srgbClr>
          </a:solidFill>
          <a:ln w="12700">
            <a:solidFill>
              <a:srgbClr val="3A2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953512" y="2103120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127248" y="2103120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5184648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5010912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953512" y="5184648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127248" y="5010912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77240" y="2377440"/>
            <a:ext cx="594360" cy="594360"/>
          </a:xfrm>
          <a:prstGeom prst="ellipse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77240" y="2377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0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31546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C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" y="365760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C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principal: jugar, seleccionar nivel, puntajes, ranking.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154680" y="32918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2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383280" y="2103120"/>
            <a:ext cx="2606040" cy="3108960"/>
          </a:xfrm>
          <a:prstGeom prst="roundRect">
            <a:avLst>
              <a:gd name="adj" fmla="val 2105"/>
            </a:avLst>
          </a:prstGeom>
          <a:solidFill>
            <a:srgbClr val="1F1438">
              <a:alpha val="90000"/>
            </a:srgbClr>
          </a:solidFill>
          <a:ln w="12700">
            <a:solidFill>
              <a:srgbClr val="3A2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383280" y="2103120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383280" y="2103120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788152" y="2103120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961888" y="2103120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383280" y="5184648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383280" y="5010912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788152" y="5184648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961888" y="5010912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611880" y="2377440"/>
            <a:ext cx="594360" cy="594360"/>
          </a:xfrm>
          <a:prstGeom prst="ellipse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3611880" y="2377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0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3584448" y="31546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C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nivel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3584448" y="365760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C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Ciudad, desierto o nieve — el 2 y el 3 se desbloquean progresivamente.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5989320" y="32918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2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6217920" y="2103120"/>
            <a:ext cx="2606040" cy="3108960"/>
          </a:xfrm>
          <a:prstGeom prst="roundRect">
            <a:avLst>
              <a:gd name="adj" fmla="val 2105"/>
            </a:avLst>
          </a:prstGeom>
          <a:solidFill>
            <a:srgbClr val="1F1438">
              <a:alpha val="90000"/>
            </a:srgbClr>
          </a:solidFill>
          <a:ln w="12700">
            <a:solidFill>
              <a:srgbClr val="3A2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217920" y="2103120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217920" y="2103120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8622792" y="2103120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796528" y="2103120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217920" y="5184648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217920" y="5010912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622792" y="5184648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8796528" y="5010912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446520" y="2377440"/>
            <a:ext cx="594360" cy="594360"/>
          </a:xfrm>
          <a:prstGeom prst="ellipse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6446520" y="2377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0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43" name="Text 41"/>
          <p:cNvSpPr txBox="1"/>
          <p:nvPr/>
        </p:nvSpPr>
        <p:spPr>
          <a:xfrm>
            <a:off x="6419088" y="31546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C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Jugar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6419088" y="365760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C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 el helicóptero con el teclado y esquivar obstáculos dinámicos.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8823960" y="32918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2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46" name="Shape 44"/>
          <p:cNvSpPr/>
          <p:nvPr/>
        </p:nvSpPr>
        <p:spPr>
          <a:xfrm>
            <a:off x="9052560" y="2103120"/>
            <a:ext cx="2606040" cy="3108960"/>
          </a:xfrm>
          <a:prstGeom prst="roundRect">
            <a:avLst>
              <a:gd name="adj" fmla="val 2105"/>
            </a:avLst>
          </a:prstGeom>
          <a:solidFill>
            <a:srgbClr val="1F1438">
              <a:alpha val="90000"/>
            </a:srgbClr>
          </a:solidFill>
          <a:ln w="12700">
            <a:solidFill>
              <a:srgbClr val="3A2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9052560" y="2103120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9052560" y="2103120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11457432" y="2103120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11631168" y="2103120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9052560" y="5184648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9052560" y="5010912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11457432" y="5184648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11631168" y="5010912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9281160" y="2377440"/>
            <a:ext cx="594360" cy="594360"/>
          </a:xfrm>
          <a:prstGeom prst="ellipse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 txBox="1"/>
          <p:nvPr/>
        </p:nvSpPr>
        <p:spPr>
          <a:xfrm>
            <a:off x="9281160" y="2377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0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57" name="Text 55"/>
          <p:cNvSpPr txBox="1"/>
          <p:nvPr/>
        </p:nvSpPr>
        <p:spPr>
          <a:xfrm>
            <a:off x="9253728" y="31546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C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Rescatar</a:t>
            </a:r>
            <a:endParaRPr lang="en-US" sz="1500" dirty="0"/>
          </a:p>
        </p:txBody>
      </p:sp>
      <p:sp>
        <p:nvSpPr>
          <p:cNvPr id="58" name="Text 56"/>
          <p:cNvSpPr txBox="1"/>
          <p:nvPr/>
        </p:nvSpPr>
        <p:spPr>
          <a:xfrm>
            <a:off x="9253728" y="365760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C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Sobrevolar a los sobrevivientes y sumar puntos al rescatarlos.</a:t>
            </a:r>
            <a:endParaRPr lang="en-US" sz="1150" dirty="0"/>
          </a:p>
        </p:txBody>
      </p:sp>
      <p:sp>
        <p:nvSpPr>
          <p:cNvPr id="59" name="Text 57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12</a:t>
            </a:r>
            <a:endParaRPr lang="en-US" sz="900" dirty="0"/>
          </a:p>
        </p:txBody>
      </p:sp>
      <p:sp>
        <p:nvSpPr>
          <p:cNvPr id="60" name="Text 58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C9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HELICOPTERO DE RESCATE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0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rgbClr val="4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9C9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INTERACCIÓN</a:t>
            </a:r>
            <a:endParaRPr lang="en-US" sz="1100" dirty="0"/>
          </a:p>
        </p:txBody>
      </p:sp>
      <p:pic>
        <p:nvPicPr>
          <p:cNvPr id="4" name="Image 0" descr="/home/claude/assets/icon_keyboar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326880" y="1828800"/>
            <a:ext cx="2194560" cy="219456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8412480" cy="914400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50A2B"/>
                          </a:solidFill>
                        </a:rPr>
                        <a:t>Tecla / Botón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3A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E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50A2B"/>
                          </a:solidFill>
                        </a:rPr>
                        <a:t>Acción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3A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ECE6D6"/>
                          </a:solidFill>
                        </a:rPr>
                        <a:t>Flecha Arriba / Espacio</a:t>
                      </a:r>
                      <a:endParaRPr lang="en-US" sz="14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3A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ECE6D6"/>
                          </a:solidFill>
                        </a:rPr>
                        <a:t>Elevar el helicóptero (empuje contra la gravedad)</a:t>
                      </a:r>
                      <a:endParaRPr lang="en-US" sz="14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3A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ECE6D6"/>
                          </a:solidFill>
                        </a:rPr>
                        <a:t>Flecha Izquierda / Derecha</a:t>
                      </a:r>
                      <a:endParaRPr lang="en-US" sz="14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3A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ECE6D6"/>
                          </a:solidFill>
                        </a:rPr>
                        <a:t>Movimiento lateral</a:t>
                      </a:r>
                      <a:endParaRPr lang="en-US" sz="14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3A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4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ECE6D6"/>
                          </a:solidFill>
                        </a:rPr>
                        <a:t>Ctrl</a:t>
                      </a:r>
                      <a:endParaRPr lang="en-US" sz="14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3A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ECE6D6"/>
                          </a:solidFill>
                        </a:rPr>
                        <a:t>Disparar (disponible desde el nivel 2)</a:t>
                      </a:r>
                      <a:endParaRPr lang="en-US" sz="14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3A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ECE6D6"/>
                          </a:solidFill>
                        </a:rPr>
                        <a:t>Botón ⋮ (esquina superior)</a:t>
                      </a:r>
                      <a:endParaRPr lang="en-US" sz="14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3A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ECE6D6"/>
                          </a:solidFill>
                        </a:rPr>
                        <a:t>Pausar la partida en curso</a:t>
                      </a:r>
                      <a:endParaRPr lang="en-US" sz="14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3A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4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ECE6D6"/>
                          </a:solidFill>
                        </a:rPr>
                        <a:t>Botón Salir (menú)</a:t>
                      </a:r>
                      <a:endParaRPr lang="en-US" sz="14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3A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ECE6D6"/>
                          </a:solidFill>
                        </a:rPr>
                        <a:t>Salir del juego</a:t>
                      </a:r>
                      <a:endParaRPr lang="en-US" sz="14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3A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E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12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C9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HELICOPTERO DE RESCATE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0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rgbClr val="4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PUNTAJE Y NIVELES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9C9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PROGRESIÓN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743200" cy="1828800"/>
          </a:xfrm>
          <a:prstGeom prst="roundRect">
            <a:avLst>
              <a:gd name="adj" fmla="val 3000"/>
            </a:avLst>
          </a:prstGeom>
          <a:solidFill>
            <a:srgbClr val="1F1438">
              <a:alpha val="90000"/>
            </a:srgbClr>
          </a:solidFill>
          <a:ln w="12700">
            <a:solidFill>
              <a:srgbClr val="3A2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090672" y="1508760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64408" y="1508760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3310128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3136392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090672" y="3310128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64408" y="3136392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48640" y="16002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87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25146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C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persona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9C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rescatada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566160" y="1508760"/>
            <a:ext cx="2743200" cy="1828800"/>
          </a:xfrm>
          <a:prstGeom prst="roundRect">
            <a:avLst>
              <a:gd name="adj" fmla="val 3000"/>
            </a:avLst>
          </a:prstGeom>
          <a:solidFill>
            <a:srgbClr val="1F1438">
              <a:alpha val="90000"/>
            </a:srgbClr>
          </a:solidFill>
          <a:ln w="12700">
            <a:solidFill>
              <a:srgbClr val="3A2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566160" y="1508760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566160" y="1508760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08192" y="1508760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81928" y="1508760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566160" y="3310128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566160" y="3136392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108192" y="3310128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281928" y="3136392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3566160" y="16002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87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</a:t>
            </a:r>
            <a:endParaRPr lang="en-US" sz="4400" dirty="0"/>
          </a:p>
        </p:txBody>
      </p:sp>
      <p:sp>
        <p:nvSpPr>
          <p:cNvPr id="25" name="Text 23"/>
          <p:cNvSpPr txBox="1"/>
          <p:nvPr/>
        </p:nvSpPr>
        <p:spPr>
          <a:xfrm>
            <a:off x="3566160" y="25146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C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obstáculo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9C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destruido a balazos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356616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C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puntaje se acumula por usuario </a:t>
            </a:r>
            <a:r>
              <a:rPr lang="en-US" sz="1400" b="1" dirty="0">
                <a:solidFill>
                  <a:srgbClr val="4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(nunca se resetea)</a:t>
            </a:r>
            <a:r>
              <a:rPr lang="en-US" sz="1400" dirty="0">
                <a:solidFill>
                  <a:srgbClr val="EC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define la posición en el ranking global, ordenado con un algoritmo de burbuja implementado a mano.</a:t>
            </a:r>
            <a:endParaRPr lang="en-US" sz="1400" dirty="0"/>
          </a:p>
        </p:txBody>
      </p:sp>
      <p:pic>
        <p:nvPicPr>
          <p:cNvPr id="27" name="Image 0" descr="/home/claude/assets/nivel_card_1_unlock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508760"/>
            <a:ext cx="1600200" cy="1033272"/>
          </a:xfrm>
          <a:prstGeom prst="rect">
            <a:avLst/>
          </a:prstGeom>
        </p:spPr>
      </p:pic>
      <p:pic>
        <p:nvPicPr>
          <p:cNvPr id="28" name="Image 1" descr="/home/claude/assets/nivel_card_2_unlock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1508760"/>
            <a:ext cx="1600200" cy="1033272"/>
          </a:xfrm>
          <a:prstGeom prst="rect">
            <a:avLst/>
          </a:prstGeom>
        </p:spPr>
      </p:pic>
      <p:pic>
        <p:nvPicPr>
          <p:cNvPr id="29" name="Image 2" descr="/home/claude/assets/nivel_card_3_unlock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1508760"/>
            <a:ext cx="1600200" cy="1033272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6720840" y="274320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C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Dificultad creciente: más obstáculos, viento y tolerancia de aterrizaje más estricta en cada nivel.</a:t>
            </a:r>
            <a:endParaRPr lang="en-US" sz="1250" dirty="0"/>
          </a:p>
        </p:txBody>
      </p:sp>
      <p:sp>
        <p:nvSpPr>
          <p:cNvPr id="31" name="Shape 26"/>
          <p:cNvSpPr/>
          <p:nvPr/>
        </p:nvSpPr>
        <p:spPr>
          <a:xfrm>
            <a:off x="6720840" y="3703320"/>
            <a:ext cx="4892040" cy="2331720"/>
          </a:xfrm>
          <a:prstGeom prst="roundRect">
            <a:avLst>
              <a:gd name="adj" fmla="val 2353"/>
            </a:avLst>
          </a:prstGeom>
          <a:solidFill>
            <a:srgbClr val="1F1438">
              <a:alpha val="90000"/>
            </a:srgbClr>
          </a:solidFill>
          <a:ln w="12700">
            <a:solidFill>
              <a:srgbClr val="3A2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7"/>
          <p:cNvSpPr/>
          <p:nvPr/>
        </p:nvSpPr>
        <p:spPr>
          <a:xfrm>
            <a:off x="6720840" y="3703320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28"/>
          <p:cNvSpPr/>
          <p:nvPr/>
        </p:nvSpPr>
        <p:spPr>
          <a:xfrm>
            <a:off x="6720840" y="3703320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29"/>
          <p:cNvSpPr/>
          <p:nvPr/>
        </p:nvSpPr>
        <p:spPr>
          <a:xfrm>
            <a:off x="11411712" y="3703320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0"/>
          <p:cNvSpPr/>
          <p:nvPr/>
        </p:nvSpPr>
        <p:spPr>
          <a:xfrm>
            <a:off x="11585448" y="3703320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1"/>
          <p:cNvSpPr/>
          <p:nvPr/>
        </p:nvSpPr>
        <p:spPr>
          <a:xfrm>
            <a:off x="6720840" y="6007608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2"/>
          <p:cNvSpPr/>
          <p:nvPr/>
        </p:nvSpPr>
        <p:spPr>
          <a:xfrm>
            <a:off x="6720840" y="5833872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3"/>
          <p:cNvSpPr/>
          <p:nvPr/>
        </p:nvSpPr>
        <p:spPr>
          <a:xfrm>
            <a:off x="11411712" y="6007608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4"/>
          <p:cNvSpPr/>
          <p:nvPr/>
        </p:nvSpPr>
        <p:spPr>
          <a:xfrm>
            <a:off x="11585448" y="5833872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0" name="Image 3" descr="/home/claude/assets/icon_star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949440" y="3931920"/>
            <a:ext cx="731520" cy="731520"/>
          </a:xfrm>
          <a:prstGeom prst="rect">
            <a:avLst/>
          </a:prstGeom>
        </p:spPr>
      </p:pic>
      <p:sp>
        <p:nvSpPr>
          <p:cNvPr id="41" name="Text 35"/>
          <p:cNvSpPr txBox="1"/>
          <p:nvPr/>
        </p:nvSpPr>
        <p:spPr>
          <a:xfrm>
            <a:off x="7818120" y="3977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C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persistente</a:t>
            </a:r>
            <a:endParaRPr lang="en-US" sz="1400" dirty="0"/>
          </a:p>
        </p:txBody>
      </p:sp>
      <p:sp>
        <p:nvSpPr>
          <p:cNvPr id="42" name="Text 36"/>
          <p:cNvSpPr txBox="1"/>
          <p:nvPr/>
        </p:nvSpPr>
        <p:spPr>
          <a:xfrm>
            <a:off x="6949440" y="4754880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C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jugador puede repetir niveles las veces que quiera para seguir sumando puntos y subir posiciones.</a:t>
            </a:r>
            <a:endParaRPr lang="en-US" sz="1250" dirty="0"/>
          </a:p>
        </p:txBody>
      </p:sp>
      <p:sp>
        <p:nvSpPr>
          <p:cNvPr id="43" name="Text 37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12</a:t>
            </a:r>
            <a:endParaRPr lang="en-US" sz="900" dirty="0"/>
          </a:p>
        </p:txBody>
      </p:sp>
      <p:sp>
        <p:nvSpPr>
          <p:cNvPr id="44" name="Text 38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C9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HELICOPTERO DE RESCATE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0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rgbClr val="4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CÓDIGO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9C9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ARQUITECTURA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EC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clase vive en su propio par de archivos .h / .cpp (mínimo 8 clases en el proyecto).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EC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centraliza la escena, la física y el HUD; delega en managers especializados.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EC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ObstacleManager y SurvivorManager administran arreglos dinámicos de punteros (new/delete).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EC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Score, Health y UserManager separan el estado de la partida del estado persistente del usuario.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 flipH="1">
            <a:off x="7719688" y="2011680"/>
            <a:ext cx="1332872" cy="502920"/>
          </a:xfrm>
          <a:prstGeom prst="line">
            <a:avLst/>
          </a:prstGeom>
          <a:noFill/>
          <a:ln w="19050">
            <a:solidFill>
              <a:srgbClr val="4A3D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01200" y="2011680"/>
            <a:ext cx="777240" cy="502920"/>
          </a:xfrm>
          <a:prstGeom prst="line">
            <a:avLst/>
          </a:prstGeom>
          <a:noFill/>
          <a:ln w="19050">
            <a:solidFill>
              <a:srgbClr val="4A3D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406640" y="3063240"/>
            <a:ext cx="9144" cy="502920"/>
          </a:xfrm>
          <a:prstGeom prst="line">
            <a:avLst/>
          </a:prstGeom>
          <a:noFill/>
          <a:ln w="19050">
            <a:solidFill>
              <a:srgbClr val="4A3D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378440" y="3063240"/>
            <a:ext cx="9144" cy="502920"/>
          </a:xfrm>
          <a:prstGeom prst="line">
            <a:avLst/>
          </a:prstGeom>
          <a:noFill/>
          <a:ln w="19050">
            <a:solidFill>
              <a:srgbClr val="4A3D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915400" y="4114800"/>
            <a:ext cx="9144" cy="502920"/>
          </a:xfrm>
          <a:prstGeom prst="line">
            <a:avLst/>
          </a:prstGeom>
          <a:noFill/>
          <a:ln w="19050">
            <a:solidFill>
              <a:srgbClr val="4A3D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955280" y="1463040"/>
            <a:ext cx="3291840" cy="548640"/>
          </a:xfrm>
          <a:prstGeom prst="roundRect">
            <a:avLst>
              <a:gd name="adj" fmla="val 8333"/>
            </a:avLst>
          </a:prstGeom>
          <a:solidFill>
            <a:srgbClr val="1F1438"/>
          </a:solidFill>
          <a:ln w="19050">
            <a:solidFill>
              <a:srgbClr val="4DE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955280" y="14630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D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35040" y="2514600"/>
            <a:ext cx="2743200" cy="548640"/>
          </a:xfrm>
          <a:prstGeom prst="roundRect">
            <a:avLst>
              <a:gd name="adj" fmla="val 8333"/>
            </a:avLst>
          </a:prstGeom>
          <a:solidFill>
            <a:srgbClr val="1F1438"/>
          </a:solidFill>
          <a:ln w="19050">
            <a:solidFill>
              <a:srgbClr val="ECE6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035040" y="2514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CE6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MyHeli / Physics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052560" y="2514600"/>
            <a:ext cx="2651760" cy="548640"/>
          </a:xfrm>
          <a:prstGeom prst="roundRect">
            <a:avLst>
              <a:gd name="adj" fmla="val 8333"/>
            </a:avLst>
          </a:prstGeom>
          <a:solidFill>
            <a:srgbClr val="1F1438"/>
          </a:solidFill>
          <a:ln w="19050">
            <a:solidFill>
              <a:srgbClr val="ECE6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9052560" y="25146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CE6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ObstacleManager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35040" y="3566160"/>
            <a:ext cx="2743200" cy="548640"/>
          </a:xfrm>
          <a:prstGeom prst="roundRect">
            <a:avLst>
              <a:gd name="adj" fmla="val 8333"/>
            </a:avLst>
          </a:prstGeom>
          <a:solidFill>
            <a:srgbClr val="1F1438"/>
          </a:solidFill>
          <a:ln w="19050">
            <a:solidFill>
              <a:srgbClr val="ECE6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035040" y="35661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CE6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SurvivorManager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052560" y="3566160"/>
            <a:ext cx="2651760" cy="548640"/>
          </a:xfrm>
          <a:prstGeom prst="roundRect">
            <a:avLst>
              <a:gd name="adj" fmla="val 8333"/>
            </a:avLst>
          </a:prstGeom>
          <a:solidFill>
            <a:srgbClr val="1F1438"/>
          </a:solidFill>
          <a:ln w="19050">
            <a:solidFill>
              <a:srgbClr val="ECE6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9052560" y="3566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CE6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/ Health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543800" y="4617720"/>
            <a:ext cx="2743200" cy="548640"/>
          </a:xfrm>
          <a:prstGeom prst="roundRect">
            <a:avLst>
              <a:gd name="adj" fmla="val 8333"/>
            </a:avLst>
          </a:prstGeom>
          <a:solidFill>
            <a:srgbClr val="1F1438"/>
          </a:solidFill>
          <a:ln w="19050">
            <a:solidFill>
              <a:srgbClr val="FF2F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543800" y="4617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2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UserManager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12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C9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HELICOPTERO DE RESCATE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0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rgbClr val="4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APLICADAS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9C9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· IMPLEMENTACIÓN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2103120"/>
          </a:xfrm>
          <a:prstGeom prst="roundRect">
            <a:avLst>
              <a:gd name="adj" fmla="val 2609"/>
            </a:avLst>
          </a:prstGeom>
          <a:solidFill>
            <a:srgbClr val="1F1438">
              <a:alpha val="90000"/>
            </a:srgbClr>
          </a:solidFill>
          <a:ln w="12700">
            <a:solidFill>
              <a:srgbClr val="3A2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696712" y="1508760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870448" y="1508760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3584448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3410712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696712" y="3584448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870448" y="3410712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0" descr="/home/claude/assets/icon_check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7240" y="1737360"/>
            <a:ext cx="502920" cy="50292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463040" y="170992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C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Punteros y memoria dinámica</a:t>
            </a:r>
            <a:endParaRPr lang="en-US" sz="145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23774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C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Arreglos dinámicos (new/delete) para obstáculos y sobrevivientes, sin contenedores de la STL.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172200" y="1508760"/>
            <a:ext cx="5349240" cy="2103120"/>
          </a:xfrm>
          <a:prstGeom prst="roundRect">
            <a:avLst>
              <a:gd name="adj" fmla="val 2609"/>
            </a:avLst>
          </a:prstGeom>
          <a:solidFill>
            <a:srgbClr val="1F1438">
              <a:alpha val="90000"/>
            </a:srgbClr>
          </a:solidFill>
          <a:ln w="12700">
            <a:solidFill>
              <a:srgbClr val="3A2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172200" y="1508760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172200" y="1508760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11320272" y="1508760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11494008" y="1508760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172200" y="3584448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6172200" y="3410712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11320272" y="3584448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11494008" y="3410712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1" descr="/home/claude/assets/icon_check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0" y="1737360"/>
            <a:ext cx="502920" cy="50292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7086600" y="170992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C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archivos</a:t>
            </a:r>
            <a:endParaRPr lang="en-US" sz="1450" dirty="0"/>
          </a:p>
        </p:txBody>
      </p:sp>
      <p:sp>
        <p:nvSpPr>
          <p:cNvPr id="27" name="Text 23"/>
          <p:cNvSpPr txBox="1"/>
          <p:nvPr/>
        </p:nvSpPr>
        <p:spPr>
          <a:xfrm>
            <a:off x="6446520" y="23774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C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QSettings para progreso y logros; archivo de texto plano (usuarios.dat) para cuentas.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548640" y="3840480"/>
            <a:ext cx="5349240" cy="2103120"/>
          </a:xfrm>
          <a:prstGeom prst="roundRect">
            <a:avLst>
              <a:gd name="adj" fmla="val 2609"/>
            </a:avLst>
          </a:prstGeom>
          <a:solidFill>
            <a:srgbClr val="1F1438">
              <a:alpha val="90000"/>
            </a:srgbClr>
          </a:solidFill>
          <a:ln w="12700">
            <a:solidFill>
              <a:srgbClr val="3A2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548640" y="3840480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548640" y="3840480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5696712" y="3840480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5870448" y="3840480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29"/>
          <p:cNvSpPr/>
          <p:nvPr/>
        </p:nvSpPr>
        <p:spPr>
          <a:xfrm>
            <a:off x="548640" y="5916168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0"/>
          <p:cNvSpPr/>
          <p:nvPr/>
        </p:nvSpPr>
        <p:spPr>
          <a:xfrm>
            <a:off x="548640" y="5742432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1"/>
          <p:cNvSpPr/>
          <p:nvPr/>
        </p:nvSpPr>
        <p:spPr>
          <a:xfrm>
            <a:off x="5696712" y="5916168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2"/>
          <p:cNvSpPr/>
          <p:nvPr/>
        </p:nvSpPr>
        <p:spPr>
          <a:xfrm>
            <a:off x="5870448" y="5742432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Image 2" descr="/home/claude/assets/icon_check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7240" y="4069080"/>
            <a:ext cx="502920" cy="502920"/>
          </a:xfrm>
          <a:prstGeom prst="rect">
            <a:avLst/>
          </a:prstGeom>
        </p:spPr>
      </p:pic>
      <p:sp>
        <p:nvSpPr>
          <p:cNvPr id="38" name="Text 33"/>
          <p:cNvSpPr txBox="1"/>
          <p:nvPr/>
        </p:nvSpPr>
        <p:spPr>
          <a:xfrm>
            <a:off x="1463040" y="404164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C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colisiones</a:t>
            </a:r>
            <a:endParaRPr lang="en-US" sz="1450" dirty="0"/>
          </a:p>
        </p:txBody>
      </p:sp>
      <p:sp>
        <p:nvSpPr>
          <p:cNvPr id="39" name="Text 34"/>
          <p:cNvSpPr txBox="1"/>
          <p:nvPr/>
        </p:nvSpPr>
        <p:spPr>
          <a:xfrm>
            <a:off x="822960" y="47091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C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collidingItems() de QGraphicsItem para heli, obstáculos y balas.</a:t>
            </a:r>
            <a:endParaRPr lang="en-US" sz="1200" dirty="0"/>
          </a:p>
        </p:txBody>
      </p:sp>
      <p:sp>
        <p:nvSpPr>
          <p:cNvPr id="40" name="Shape 35"/>
          <p:cNvSpPr/>
          <p:nvPr/>
        </p:nvSpPr>
        <p:spPr>
          <a:xfrm>
            <a:off x="6172200" y="3840480"/>
            <a:ext cx="5349240" cy="2103120"/>
          </a:xfrm>
          <a:prstGeom prst="roundRect">
            <a:avLst>
              <a:gd name="adj" fmla="val 2609"/>
            </a:avLst>
          </a:prstGeom>
          <a:solidFill>
            <a:srgbClr val="1F1438">
              <a:alpha val="90000"/>
            </a:srgbClr>
          </a:solidFill>
          <a:ln w="12700">
            <a:solidFill>
              <a:srgbClr val="3A2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6"/>
          <p:cNvSpPr/>
          <p:nvPr/>
        </p:nvSpPr>
        <p:spPr>
          <a:xfrm>
            <a:off x="6172200" y="3840480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7"/>
          <p:cNvSpPr/>
          <p:nvPr/>
        </p:nvSpPr>
        <p:spPr>
          <a:xfrm>
            <a:off x="6172200" y="3840480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38"/>
          <p:cNvSpPr/>
          <p:nvPr/>
        </p:nvSpPr>
        <p:spPr>
          <a:xfrm>
            <a:off x="11320272" y="3840480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39"/>
          <p:cNvSpPr/>
          <p:nvPr/>
        </p:nvSpPr>
        <p:spPr>
          <a:xfrm>
            <a:off x="11494008" y="3840480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0"/>
          <p:cNvSpPr/>
          <p:nvPr/>
        </p:nvSpPr>
        <p:spPr>
          <a:xfrm>
            <a:off x="6172200" y="5916168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1"/>
          <p:cNvSpPr/>
          <p:nvPr/>
        </p:nvSpPr>
        <p:spPr>
          <a:xfrm>
            <a:off x="6172200" y="5742432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2"/>
          <p:cNvSpPr/>
          <p:nvPr/>
        </p:nvSpPr>
        <p:spPr>
          <a:xfrm>
            <a:off x="11320272" y="5916168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3"/>
          <p:cNvSpPr/>
          <p:nvPr/>
        </p:nvSpPr>
        <p:spPr>
          <a:xfrm>
            <a:off x="11494008" y="5742432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9" name="Image 3" descr="/home/claude/assets/icon_check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0" y="4069080"/>
            <a:ext cx="502920" cy="502920"/>
          </a:xfrm>
          <a:prstGeom prst="rect">
            <a:avLst/>
          </a:prstGeom>
        </p:spPr>
      </p:pic>
      <p:sp>
        <p:nvSpPr>
          <p:cNvPr id="50" name="Text 44"/>
          <p:cNvSpPr txBox="1"/>
          <p:nvPr/>
        </p:nvSpPr>
        <p:spPr>
          <a:xfrm>
            <a:off x="7086600" y="404164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C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juego con QTimer</a:t>
            </a:r>
            <a:endParaRPr lang="en-US" sz="1450" dirty="0"/>
          </a:p>
        </p:txBody>
      </p:sp>
      <p:sp>
        <p:nvSpPr>
          <p:cNvPr id="51" name="Text 45"/>
          <p:cNvSpPr txBox="1"/>
          <p:nvPr/>
        </p:nvSpPr>
        <p:spPr>
          <a:xfrm>
            <a:off x="6446520" y="47091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C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Física, animación de sprites y generación de obstáculos en timers independientes.</a:t>
            </a:r>
            <a:endParaRPr lang="en-US" sz="1200" dirty="0"/>
          </a:p>
        </p:txBody>
      </p:sp>
      <p:sp>
        <p:nvSpPr>
          <p:cNvPr id="52" name="Text 46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12</a:t>
            </a:r>
            <a:endParaRPr lang="en-US" sz="900" dirty="0"/>
          </a:p>
        </p:txBody>
      </p:sp>
      <p:sp>
        <p:nvSpPr>
          <p:cNvPr id="53" name="Text 47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C9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HELICOPTERO DE RESCATE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0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rgbClr val="4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 REALIZADA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9C9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· MÁS ALLÁ DE CLASE</a:t>
            </a:r>
            <a:endParaRPr lang="en-US" sz="1100" dirty="0"/>
          </a:p>
        </p:txBody>
      </p:sp>
      <p:pic>
        <p:nvPicPr>
          <p:cNvPr id="4" name="Image 0" descr="/home/claude/assets/icon_flask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829800" y="1737360"/>
            <a:ext cx="1554480" cy="1737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600200"/>
            <a:ext cx="8778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EC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QGraphicsView / QGraphicsScene: motor gráfico 2D de Qt para escenas con múltiples objetos animados.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EC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Física de videojuegos: integración de Euler y decaimiento exponencial para simular fricción.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EC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QCryptographicHash (SHA-256): hashing de contraseñas para el manejo seguro de cuentas.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EC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de ordenamiento: bubble sort implementado a mano para el ranking de puntajes.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12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C9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HELICOPTERO DE RESCATE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0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rgbClr val="4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9C9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· CAPTURAS</a:t>
            </a:r>
            <a:endParaRPr lang="en-US" sz="1100" dirty="0"/>
          </a:p>
        </p:txBody>
      </p:sp>
      <p:pic>
        <p:nvPicPr>
          <p:cNvPr id="4" name="Image 0" descr="/home/claude/assets/mockup_menu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463040"/>
            <a:ext cx="3566160" cy="4389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63040"/>
            <a:ext cx="3566160" cy="438912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4DE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548640" y="5961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100" dirty="0">
                <a:solidFill>
                  <a:srgbClr val="4D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Menú principal</a:t>
            </a:r>
            <a:endParaRPr lang="en-US" sz="1200" dirty="0"/>
          </a:p>
        </p:txBody>
      </p:sp>
      <p:pic>
        <p:nvPicPr>
          <p:cNvPr id="7" name="Image 1" descr="/home/claude/assets/mockup_gameplay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343400" y="1463040"/>
            <a:ext cx="3566160" cy="26517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343400" y="1463040"/>
            <a:ext cx="3566160" cy="265176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4DE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 txBox="1"/>
          <p:nvPr/>
        </p:nvSpPr>
        <p:spPr>
          <a:xfrm>
            <a:off x="4343400" y="42245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100" dirty="0">
                <a:solidFill>
                  <a:srgbClr val="4D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Nivel — ciudad</a:t>
            </a:r>
            <a:endParaRPr lang="en-US" sz="1200" dirty="0"/>
          </a:p>
        </p:txBody>
      </p:sp>
      <p:pic>
        <p:nvPicPr>
          <p:cNvPr id="10" name="Image 2" descr="/home/claude/assets/mockup_rescat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38160" y="1463040"/>
            <a:ext cx="3566160" cy="265176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8138160" y="1463040"/>
            <a:ext cx="3566160" cy="265176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4DE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7"/>
          <p:cNvSpPr txBox="1"/>
          <p:nvPr/>
        </p:nvSpPr>
        <p:spPr>
          <a:xfrm>
            <a:off x="8138160" y="42245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100" dirty="0">
                <a:solidFill>
                  <a:srgbClr val="4D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Rescate — desierto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12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C9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HELICOPTERO DE RESCATE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0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rgbClr val="4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9C9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· CIERRE TÉCNICO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2103120"/>
          </a:xfrm>
          <a:prstGeom prst="roundRect">
            <a:avLst>
              <a:gd name="adj" fmla="val 2609"/>
            </a:avLst>
          </a:prstGeom>
          <a:solidFill>
            <a:srgbClr val="1F1438">
              <a:alpha val="90000"/>
            </a:srgbClr>
          </a:solidFill>
          <a:ln w="12700">
            <a:solidFill>
              <a:srgbClr val="3A2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696712" y="1508760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870448" y="1508760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3584448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3410712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696712" y="3584448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870448" y="3410712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822960" y="17099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4D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APRENDIZAJE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2221992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C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Consolidamos POO, punteros y gestión de memoria del curso en un proyecto real e interactivo, no en ejercicios aislados.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72200" y="1508760"/>
            <a:ext cx="5349240" cy="2103120"/>
          </a:xfrm>
          <a:prstGeom prst="roundRect">
            <a:avLst>
              <a:gd name="adj" fmla="val 2609"/>
            </a:avLst>
          </a:prstGeom>
          <a:solidFill>
            <a:srgbClr val="1F1438">
              <a:alpha val="90000"/>
            </a:srgbClr>
          </a:solidFill>
          <a:ln w="12700">
            <a:solidFill>
              <a:srgbClr val="3A2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72200" y="1508760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72200" y="1508760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320272" y="1508760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1494008" y="1508760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172200" y="3584448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172200" y="3410712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320272" y="3584448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494008" y="3410712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6446520" y="17099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4D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PROBLEMA RESUELTO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446520" y="2221992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C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logró un juego funcional, con progresión de niveles, persistencia de datos y sin fugas de memoria.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3840480"/>
            <a:ext cx="5349240" cy="2103120"/>
          </a:xfrm>
          <a:prstGeom prst="roundRect">
            <a:avLst>
              <a:gd name="adj" fmla="val 2609"/>
            </a:avLst>
          </a:prstGeom>
          <a:solidFill>
            <a:srgbClr val="1F1438">
              <a:alpha val="90000"/>
            </a:srgbClr>
          </a:solidFill>
          <a:ln w="12700">
            <a:solidFill>
              <a:srgbClr val="3A2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48640" y="3840480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48640" y="3840480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696712" y="3840480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870448" y="3840480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48640" y="5916168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48640" y="5742432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696712" y="5916168"/>
            <a:ext cx="201168" cy="27432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870448" y="5742432"/>
            <a:ext cx="27432" cy="201168"/>
          </a:xfrm>
          <a:prstGeom prst="rect">
            <a:avLst/>
          </a:prstGeom>
          <a:solidFill>
            <a:srgbClr val="4DE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822960" y="40416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4D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RETO PRINCIPAL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" y="4553712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C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Coordinar física de vuelo, colisiones y múltiples QTimer simultáneos sin punteros colgantes.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172200" y="3840480"/>
            <a:ext cx="5349240" cy="2103120"/>
          </a:xfrm>
          <a:prstGeom prst="roundRect">
            <a:avLst>
              <a:gd name="adj" fmla="val 2609"/>
            </a:avLst>
          </a:prstGeom>
          <a:solidFill>
            <a:srgbClr val="1F1438">
              <a:alpha val="90000"/>
            </a:srgbClr>
          </a:solidFill>
          <a:ln w="12700">
            <a:solidFill>
              <a:srgbClr val="3A2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172200" y="3840480"/>
            <a:ext cx="201168" cy="27432"/>
          </a:xfrm>
          <a:prstGeom prst="rect">
            <a:avLst/>
          </a:prstGeom>
          <a:solidFill>
            <a:srgbClr val="FF2F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172200" y="3840480"/>
            <a:ext cx="27432" cy="201168"/>
          </a:xfrm>
          <a:prstGeom prst="rect">
            <a:avLst/>
          </a:prstGeom>
          <a:solidFill>
            <a:srgbClr val="FF2F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1320272" y="3840480"/>
            <a:ext cx="201168" cy="27432"/>
          </a:xfrm>
          <a:prstGeom prst="rect">
            <a:avLst/>
          </a:prstGeom>
          <a:solidFill>
            <a:srgbClr val="FF2F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1494008" y="3840480"/>
            <a:ext cx="27432" cy="201168"/>
          </a:xfrm>
          <a:prstGeom prst="rect">
            <a:avLst/>
          </a:prstGeom>
          <a:solidFill>
            <a:srgbClr val="FF2F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172200" y="5916168"/>
            <a:ext cx="201168" cy="27432"/>
          </a:xfrm>
          <a:prstGeom prst="rect">
            <a:avLst/>
          </a:prstGeom>
          <a:solidFill>
            <a:srgbClr val="FF2F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172200" y="5742432"/>
            <a:ext cx="27432" cy="201168"/>
          </a:xfrm>
          <a:prstGeom prst="rect">
            <a:avLst/>
          </a:prstGeom>
          <a:solidFill>
            <a:srgbClr val="FF2F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11320272" y="5916168"/>
            <a:ext cx="201168" cy="27432"/>
          </a:xfrm>
          <a:prstGeom prst="rect">
            <a:avLst/>
          </a:prstGeom>
          <a:solidFill>
            <a:srgbClr val="FF2F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11494008" y="5742432"/>
            <a:ext cx="27432" cy="201168"/>
          </a:xfrm>
          <a:prstGeom prst="rect">
            <a:avLst/>
          </a:prstGeom>
          <a:solidFill>
            <a:srgbClr val="FF2F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 txBox="1"/>
          <p:nvPr/>
        </p:nvSpPr>
        <p:spPr>
          <a:xfrm>
            <a:off x="6446520" y="40416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2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 FINAL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6446520" y="4553712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C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jugable de 3 niveles, con cuentas de usuario, ranking y mecánica de rescate completa.</a:t>
            </a:r>
            <a:endParaRPr lang="en-US" sz="1250" dirty="0"/>
          </a:p>
        </p:txBody>
      </p:sp>
      <p:sp>
        <p:nvSpPr>
          <p:cNvPr id="48" name="Text 46"/>
          <p:cNvSpPr txBox="1"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12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C9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HELICOPTERO DE RESCATE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0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menu_fondo_v2_640x8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77440" y="0"/>
            <a:ext cx="493776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2377440" y="0"/>
            <a:ext cx="4937760" cy="6858000"/>
          </a:xfrm>
          <a:prstGeom prst="rect">
            <a:avLst/>
          </a:prstGeom>
          <a:solidFill>
            <a:srgbClr val="150A2B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 txBox="1"/>
          <p:nvPr/>
        </p:nvSpPr>
        <p:spPr>
          <a:xfrm>
            <a:off x="2377440" y="2468880"/>
            <a:ext cx="7406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EC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2377440" y="379476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kern="0" spc="200" dirty="0">
                <a:solidFill>
                  <a:srgbClr val="4D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Gabriel Popoff  ·  Jean Carlos Najar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2377440" y="429768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C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Helicóptero de Rescate — Programación 3 (LCP208)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831</Words>
  <Application>Microsoft Office PowerPoint</Application>
  <PresentationFormat>Widescreen</PresentationFormat>
  <Paragraphs>144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Gabriel Popoff</cp:lastModifiedBy>
  <cp:revision>2</cp:revision>
  <dcterms:created xsi:type="dcterms:W3CDTF">2026-09-21T11:45:43Z</dcterms:created>
  <dcterms:modified xsi:type="dcterms:W3CDTF">2026-09-21T11:48:24Z</dcterms:modified>
</cp:coreProperties>
</file>